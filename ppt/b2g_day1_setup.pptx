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9875520" y="0"/>
            <a:ext cx="2313432" cy="685800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4630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10058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세팅 +</a:t>
            </a:r>
            <a:endParaRPr lang="en-US" sz="4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4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가져오기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3520440"/>
            <a:ext cx="9144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 Code로 데이터 분석 자동화하기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4114800"/>
            <a:ext cx="3200400" cy="0"/>
          </a:xfrm>
          <a:prstGeom prst="line">
            <a:avLst/>
          </a:prstGeom>
          <a:noFill/>
          <a:ln w="15240">
            <a:solidFill>
              <a:srgbClr val="4A7B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2976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2026.05.12 (화)  |  19:00 — 22:00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46177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1/4 회차  ·  3시간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61264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강사 소개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200400" cy="4114800"/>
          </a:xfrm>
          <a:prstGeom prst="roundRect">
            <a:avLst>
              <a:gd name="adj" fmla="val 3429"/>
            </a:avLst>
          </a:prstGeom>
          <a:solidFill>
            <a:srgbClr val="F5F7FA"/>
          </a:solidFill>
          <a:ln/>
        </p:spPr>
      </p:sp>
      <p:pic>
        <p:nvPicPr>
          <p:cNvPr id="5" name="Image 0" descr="/Users/sujinpark/b2b-lecture-note/instructor/inyounglee/profi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554480"/>
            <a:ext cx="32004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206240" y="1554480"/>
            <a:ext cx="74340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이인영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4206240" y="2240280"/>
            <a:ext cx="914400" cy="0"/>
          </a:xfrm>
          <a:prstGeom prst="line">
            <a:avLst/>
          </a:prstGeom>
          <a:noFill/>
          <a:ln w="19050">
            <a:solidFill>
              <a:srgbClr val="4A7BF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206240" y="2331720"/>
            <a:ext cx="74340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데이터팝콘 대표  ·  n8n Global Seoul Ambassador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206240" y="2788920"/>
            <a:ext cx="7434072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쏘카·카카오스타일·쿠팡플레이에서 모빌리티, 이커머스, OTT, 광고 도메인을 경험하며 데이터 기반 의사결정을 했습니다. 2024년 데이터팝콘으로 솔로프리너 활동을 시작해, 2025년 AI 자동화 전문 스타트업을 창업했습니다.</a:t>
            </a: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endParaRPr lang="en-US" sz="115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5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국내 1호 n8n 글로벌 앰배서더로 기업·대학생·취업준비생 대상 AI 자동화 컨설팅과 강의를 진행하고 있습니다. Google I/O Seoul, 데이터야놀자 등에서 발표하며 유튜브 「데이터팝콘」과 링크드인에 실무 콘텐츠를 공유합니다.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206240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06240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2" name="Text 9"/>
          <p:cNvSpPr/>
          <p:nvPr/>
        </p:nvSpPr>
        <p:spPr>
          <a:xfrm>
            <a:off x="4343400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저서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4343400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한빛미디어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《n8n이 다 해줌》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위키독스 노코드 가이드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133338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33338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6" name="Text 13"/>
          <p:cNvSpPr/>
          <p:nvPr/>
        </p:nvSpPr>
        <p:spPr>
          <a:xfrm>
            <a:off x="6270498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6270498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인프런 n8n 완전정복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KDT 부트캠프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팀스파르타·러닝스푼즈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8060436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060436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20" name="Text 17"/>
          <p:cNvSpPr/>
          <p:nvPr/>
        </p:nvSpPr>
        <p:spPr>
          <a:xfrm>
            <a:off x="8197596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발표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8197596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Google I/O Seoul 2025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데이터야놀자 2025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n8n Seoul Meetup 주최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9987534" y="4206240"/>
            <a:ext cx="1652778" cy="1783080"/>
          </a:xfrm>
          <a:prstGeom prst="roundRect">
            <a:avLst>
              <a:gd name="adj" fmla="val 4426"/>
            </a:avLst>
          </a:prstGeom>
          <a:solidFill>
            <a:srgbClr val="FFFFFF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987534" y="4206240"/>
            <a:ext cx="1652778" cy="4572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24" name="Text 21"/>
          <p:cNvSpPr/>
          <p:nvPr/>
        </p:nvSpPr>
        <p:spPr>
          <a:xfrm>
            <a:off x="10124694" y="4325112"/>
            <a:ext cx="137845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컨설팅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10124694" y="4590288"/>
            <a:ext cx="1378458" cy="13075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오늘의집·LG전자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Upstage·인천세종병원</a:t>
            </a:r>
            <a:endParaRPr lang="en-US" sz="9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 기업 다수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/ 28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학습 목표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강의 종료 시점에 갖고 갈 것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Claude Desktop 앱에서 Code 메뉴로 Claude Code 설치 → claude 실행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서울 열린데이터광장에서 미세먼지 CSV 직접 다운로드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자연어 프롬프트 3개로 첫 분석 결과(요약·자치구별·월별) 받기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8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본인 프로젝트용 CLAUDE.md 작성 → 인프런/운영 채널 업로드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1A1F36"/>
          </a:solidFill>
          <a:ln/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메시지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Code는 코딩 도구가 아니라 작업 파트너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문법을 가르치지 않는다 — 일을 시키는 법을 가르친다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오늘은 결과 완성도보다 "체감"이 우선</a:t>
            </a:r>
            <a:endParaRPr lang="en-US" sz="1300" dirty="0"/>
          </a:p>
          <a:p>
            <a:pPr indent="0" marL="0">
              <a:lnSpc>
                <a:spcPct val="155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데이터는 데이터 포털에서 직접 받는다 — 분석가의 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/ 28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시간표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파트별 진행 흐름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16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6976872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파트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내용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1F3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오프닝 + Before/After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강의 컨셉 + 미세먼지 CSV 라이브 시연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환경 세팅 (Claude Desktop)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Claude Desktop의 Code 메뉴로 Claude Code 설치 + 트러블슈팅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휴식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데이터 다운로드 + 첫 분석 + CLAUDE.md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미세먼지 직접 다운로드 → 3개 프롬프트 → CLAUDE.md 작성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F36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미션 안내 + Q&amp;A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4A5568"/>
                          </a:solidFill>
                          <a:latin typeface="Noto Sans KR" pitchFamily="34" charset="0"/>
                          <a:ea typeface="Noto Sans KR" pitchFamily="34" charset="-122"/>
                          <a:cs typeface="Noto Sans KR" pitchFamily="34" charset="-120"/>
                        </a:rPr>
                        <a:t>운영 채널 제출 동선</a:t>
                      </a:r>
                      <a:endParaRPr lang="en-US" sz="1100" dirty="0">
                        <a:latin typeface="Noto Sans KR" charset="0"/>
                        <a:ea typeface="Noto Sans KR" charset="0"/>
                        <a:cs typeface="Noto Sans KR" charset="0"/>
                      </a:endParaRPr>
                    </a:p>
                  </a:txBody>
                  <a:tcPr marL="101600" marR="101600" marT="63500" marB="635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/ 28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환영 + 4회차 흐름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4회차: 데이터 → EDA → 대시보드 → 의사결정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끝나면 "데이터 던지면 분석" 첫 경험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 데이터(서울 미세먼지)로 4회차를 끝까지 끌고 갑니다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 / 28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자료·제출 동선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데이터: 강의 중 서울 열린데이터광장에서 직접 다운로드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(분석가의 일이니까 직접 받아보기 — 백업본은 강사가 채널로 안내)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시연 프롬프트: PPT 코드 블록을 그대로 복사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미션 제출: 인프런/운영 채널에 결과(PNG · CLAUDE.md) 업로드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 / 28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Before — ChatGPT에 복붙하던 시절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주피터에 CSV 로드 코드 직접 작성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"CP949 인코딩" 질문 → 답 받기 → 복붙 →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한글 폰트 깨짐 → 다시 질문 → 다시 복붙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"매번 이렇게 삽질..." 의 반복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 / 28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After — Claude Code, 한 문장이면 끝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 문장이면 인코딩·폰트·집계·차트까지 자동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일부러 오타를 내도 "다시 해줘" 한마디로 복구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"에러 나면 어떡하지?" 걱정 일단 내려놓으세요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8 / 28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두 해 통합 PM2.5 자치구별 비교를 한 문장으로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이 폴더에 기간별_일평균_대기환경_정보_2024년.csv + 기간별_일평균_대기환경_정보_2025년.csv 있어.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두 파일 모두 인코딩은 CP949(EUC-KR 호환)야. 통합해서 자치구별 PM2.5 연평균을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2024 vs 2025 비교 막대그래프로, 한글 폰트 깨지지 않게 그려줘.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9 / 28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BEFORE/AFTER DEMO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시연 결과 — "한 문장으로 5분이면 끝"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before_after_dem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자치구별 PM2.5 연평균 2024 vs 2025 막대그래프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 / 28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1. 오프닝 + Before/After 시연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답 안 되는 질문도 분석가의 일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좋은 질문이지만 현재 데이터로는 답 안 되는 것들도 있다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예: "코로나 봉쇄 전후" — 배포본은 2024+2025 → 답 불가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예: "출근시간 7~9시 PM" — 일별 데이터 → 시간대 분석 불가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"데이터를 더 받거나 다른 후보로" 라는 의사결정으로 연결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11 / 28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Claude Desktop App 설치하기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https://claude.ai/download 에서 본인 OS용 다운로드 → 설치 →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Pro/Max 계정으로 로그인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좌측 사이드바에 "Code" 항목이 보이는지 확인 (없으면 앱 업데이트)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12 / 28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바탕화면에 작업 폴더 만들기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폴더 이름: inflearn_ccd_challenge (강의용 통일)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위치: 바탕화면 (찾기 쉬운 곳이면 어디든)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이 폴더 하나가 4회차 내내 작업 폴더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— 데이터·CLAUDE.md·산출물 모두 여기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13 / 28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3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데스크톱 앱에서 Claude Code 설치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Desktop 좌측 메뉴에서 "Code" 클릭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작업 폴더로 inflearn_ccd_challenge 지정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앱 안내에 따라 Claude Code 설치 진행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(Node.js 등 사전 준비 자동 처리)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수강생은 터미널 명령어 외우거나 직접 칠 필요 X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14 / 28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2. 환경 세팅 (Claude Desktop)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4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claude 첫 실행 + 인증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설치 끝나면 터미널에서 claude 명령어 실행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브라우저로 Anthropic 계정 인증 1회 (Pro/Max 로그인 상태 필요)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인증 끝나면 Claude Code 프롬프트 진입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이제부터 모든 분석은 여기서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15 / 28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1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1단계 — 미세먼지 데이터 다운로드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출처: 서울 열린데이터광장 — 일별 평균 대기환경 정보 (OA-2218)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https://data.seoul.go.kr/dataList/OA-2218/S/1/datasetView.do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페이지 접속 → "파일" 탭 → 2024 + 2025 두 개 CSV 다운로드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작업 폴더로 이동 후 이름 통일 (seoul_air_quality_2024/2025.csv)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못 받은 분은 강의 GitHub data/seoul_air_quality/ 백업본 사용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16 / 28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DATA SOURCE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서울 열린데이터광장 OA-2218 — 다운로드 화면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2194560" y="2240280"/>
            <a:ext cx="7772400" cy="36576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12700">
            <a:solidFill>
              <a:srgbClr val="CBD5E0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2194560" y="3703320"/>
            <a:ext cx="7772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📷  결과 이미지 위치</a:t>
            </a:r>
            <a:endParaRPr lang="en-US" sz="14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4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(강의 시연 캡처가 들어갈 자리)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194560" y="498348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809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screenshots/day1/seoul_open_data_oa2218.png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"파일" 탭에서 2024·2025 두 해 CSV 다운로드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17 / 28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2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한눈에 보기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규모: 18,275행 (2024: 9,150 + 2025: 9,125)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컬럼 9개: 측정일시·권역명·측정소명·이산화질소·오존·일산화탄소·아황산가스·미세먼지·초미세먼지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인코딩: CP949 (한글이 EUC-KR 방식)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컬럼명 살짝 다름: 2024 "미세먼지" vs 2025 "미세먼지농도"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측정소: 서울 25개 자치구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18 / 28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— 이 데이터, 어떻게 생겼지?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이 폴더의 기간별_일평균_대기환경_정보_2024년.csv 와 기간별_일평균_대기환경_정보_2025년.csv 둘 다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읽어서 어떤 데이터인지 요약해줘. 둘 다 인코딩은 CP949야.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원본 9개 컬럼(측정일시·권역명·측정소명·이산화질소·오존·일산화탄소·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아황산가스·미세먼지·초미세먼지) 그대로 보여주고, 컬럼명 통일해주고,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연도별 행 수·결측 비율·날짜 범위 알려줘.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19 / 28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2단계 결과 — 데이터 요약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1_summa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shape · dtypes · 결측 비율 · 날짜 범위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 / 28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— 자치구별 PM2.5 연평균 (2024 vs 2025)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자치구별 PM2.5 연평균을 2024와 2025 두 해 비교 막대그래프로,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한글 폰트 안 깨지게 그려줘.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같은 자치구가 가로축에서 두 해 막대로 나란히 보이게.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yoy_district_pm25.png 로 저장.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21 / 28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3단계 결과 — 자치구별 PM2.5 비교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2_distric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25개 자치구 × 2개 연도 막대그래프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22 / 28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10916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함께 볼 시연 프롬프트 — 따라 치지 않으셔도 됩니다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— 월별 추이 + 황사 시즌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548640" y="260604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926080"/>
            <a:ext cx="11091672" cy="3200400"/>
          </a:xfrm>
          <a:prstGeom prst="roundRect">
            <a:avLst>
              <a:gd name="adj" fmla="val 1714"/>
            </a:avLst>
          </a:prstGeom>
          <a:solidFill>
            <a:srgbClr val="F1F5F9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3035808"/>
            <a:ext cx="10762488" cy="2980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월별 PM2.5 추이를 2024와 2025 두 해 라인차트로 같이 그려줘.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황사 시즌(3~5월) 영역을 음영 처리하고,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2025 황사 시즌이 작년 대비 강해졌는지 한 줄로 해석.</a:t>
            </a:r>
            <a:endParaRPr lang="en-US" sz="11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150" dirty="0">
                <a:solidFill>
                  <a:srgbClr val="1A1F36"/>
                </a:solidFill>
                <a:latin typeface="Roboto Mono" pitchFamily="34" charset="0"/>
                <a:ea typeface="Roboto Mono" pitchFamily="34" charset="-122"/>
                <a:cs typeface="Roboto Mono" pitchFamily="34" charset="-120"/>
              </a:rPr>
              <a:t>yoy_monthly_pm25.png 로 저장.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23 / 28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1 · STEP 4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만든 결과물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109167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4단계 결과 — 월별 추이 + 황사 시즌</a:t>
            </a:r>
            <a:endParaRPr lang="en-US" sz="2800" dirty="0"/>
          </a:p>
        </p:txBody>
      </p:sp>
      <p:pic>
        <p:nvPicPr>
          <p:cNvPr id="6" name="Image 0" descr="/Users/sujinpark/b2b-lecture-note/20260512_inflearn_B2G_dataanalysis/assets/screenshots/day1/result_step3_monthl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2240280"/>
            <a:ext cx="7772400" cy="3657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5989320"/>
            <a:ext cx="110916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월별 PM2.5 (2024 vs 2025) + 황사 시즌 음영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24 / 28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4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CLAUDE.md 작성 — 매번 설명 안 하려고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Claude Code 작업 폴더에 두는 "프로젝트 컨텍스트 메모"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인코딩·폰트·출력 언어·데이터 위치 같은 기본 전제를 한 번에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한 번 적어두면 다음 분석부터 한 문장 명령으로 끝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버전 구분(v1/v2) 안 함 — 폴더(day1/, day2/)로 히스토리 관리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 / 28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파트 3. 데이터 다운로드 + 첫 분석 + CLAUDE.md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10515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섹션 5 / 5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1508760"/>
            <a:ext cx="11091672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4200" b="1" spc="-5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산출물 정리 + 운영 채널 업로드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48640" y="2971800"/>
            <a:ext cx="1828800" cy="0"/>
          </a:xfrm>
          <a:prstGeom prst="line">
            <a:avLst/>
          </a:prstGeom>
          <a:noFill/>
          <a:ln w="25400">
            <a:solidFill>
              <a:srgbClr val="4A7BF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8640" y="3200400"/>
            <a:ext cx="11091672" cy="2788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inflearn_ccd_challenge/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CLAUDE.md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기간별_일평균_대기환경_정보_2024년.csv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├── 기간별_일평균_대기환경_정보_2025년.csv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└── outputs/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├── yoy_district_pm25.png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└── yoy_monthly_pm25.png</a:t>
            </a: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endParaRPr lang="en-US" sz="1700" dirty="0"/>
          </a:p>
          <a:p>
            <a:pPr indent="0" marL="0">
              <a:lnSpc>
                <a:spcPct val="155000"/>
              </a:lnSpc>
              <a:buNone/>
            </a:pPr>
            <a:r>
              <a:rPr lang="en-US" sz="17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outputs/ PNG · CLAUDE.md 를 인프런/운영 채널에 업로드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26 / 28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84048"/>
            <a:ext cx="914400" cy="54864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530352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spc="-30" kern="0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 미션 1 — 첫 분석 + CLAUDE.md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105156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미세먼지 데이터에 질문 3개 + 결과 캡처 + CLAUDE.md → 인프런/운영 채널 업로드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669280" cy="45720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554480"/>
            <a:ext cx="56692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5212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제출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77240" y="2148840"/>
            <a:ext cx="52120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질문 3개 + 결과 캡처 (PNG)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CLAUDE.md (분석 규칙 5개 이상)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운영 채널 업로드 (PNG · CLAUDE.md)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0" y="1554480"/>
            <a:ext cx="5212080" cy="4572000"/>
          </a:xfrm>
          <a:prstGeom prst="roundRect">
            <a:avLst>
              <a:gd name="adj" fmla="val 2000"/>
            </a:avLst>
          </a:prstGeom>
          <a:solidFill>
            <a:srgbClr val="F5F7FA"/>
          </a:solidFill>
          <a:ln w="6350">
            <a:solidFill>
              <a:srgbClr val="E2E8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554480"/>
            <a:ext cx="5212080" cy="64008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11" name="Text 9"/>
          <p:cNvSpPr/>
          <p:nvPr/>
        </p:nvSpPr>
        <p:spPr>
          <a:xfrm>
            <a:off x="6629400" y="169164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3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(보너스)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629400" y="214884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"평소 같으면 얼마나 걸렸을까?" 한 줄 소감</a:t>
            </a:r>
            <a:endParaRPr lang="en-US" sz="1300" dirty="0"/>
          </a:p>
          <a:p>
            <a:pPr indent="0" marL="0">
              <a:lnSpc>
                <a:spcPct val="150000"/>
              </a:lnSpc>
              <a:spcAft>
                <a:spcPts val="1000"/>
              </a:spcAft>
              <a:buNone/>
            </a:pPr>
            <a:r>
              <a:rPr lang="en-US" sz="1300" dirty="0">
                <a:solidFill>
                  <a:srgbClr val="4A556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⭐ 본인 회사 데이터로 시도해본 결과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27 / 28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1F36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548640"/>
          </a:xfrm>
          <a:prstGeom prst="rect">
            <a:avLst/>
          </a:prstGeom>
          <a:solidFill>
            <a:srgbClr val="4A7BF7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6459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50" kern="0" dirty="0">
                <a:solidFill>
                  <a:srgbClr val="4A7BF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회차 사전 안내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515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spc="-50" kern="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Day 2 — EDA + 결합 데이터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31520" y="41148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분석 질문을 잔뜩 던지고, 답 가능한 것부터 풀기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단독 분석으로 부족하면 결합 (따릉이·지하철·날씨·언급량·쇼핑)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Colab에서 코드 직접 만지기</a:t>
            </a:r>
            <a:endParaRPr lang="en-US" sz="1500" dirty="0"/>
          </a:p>
          <a:p>
            <a:pPr indent="0" marL="0">
              <a:lnSpc>
                <a:spcPct val="170000"/>
              </a:lnSpc>
              <a:buNone/>
            </a:pPr>
            <a:r>
              <a:rPr lang="en-US" sz="1500" dirty="0">
                <a:solidFill>
                  <a:srgbClr val="A0AEC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오늘 만든 CLAUDE.md는 그대로 두고, 새 규칙은 자연어로 누적합니다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972800" y="6446520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28 / 28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1 — 환경 세팅 + 데이터 가져오기</dc:title>
  <dc:subject>PptxGenJS Presentation</dc:subject>
  <dc:creator>데이터팝콘</dc:creator>
  <cp:lastModifiedBy>데이터팝콘</cp:lastModifiedBy>
  <cp:revision>1</cp:revision>
  <dcterms:created xsi:type="dcterms:W3CDTF">2026-05-09T15:06:24Z</dcterms:created>
  <dcterms:modified xsi:type="dcterms:W3CDTF">2026-05-09T15:06:24Z</dcterms:modified>
</cp:coreProperties>
</file>