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laude.ai/" TargetMode="Externa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9875519" y="0"/>
            <a:ext cx="2313433" cy="6858000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777239" y="1479549"/>
            <a:ext cx="81381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50" sz="13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77239" y="1732280"/>
            <a:ext cx="9966961" cy="1838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5000"/>
              </a:lnSpc>
              <a:defRPr spc="-50" sz="4400">
                <a:solidFill>
                  <a:srgbClr val="FFFFFF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환경 세팅 +</a:t>
            </a:r>
          </a:p>
          <a:p>
            <a:pPr>
              <a:lnSpc>
                <a:spcPct val="115000"/>
              </a:lnSpc>
              <a:defRPr spc="-50" sz="4400">
                <a:solidFill>
                  <a:srgbClr val="FFFFFF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데이터 가져오기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777239" y="3528060"/>
            <a:ext cx="90525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A0AEC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Claude Code로 데이터 분석 자동화하기</a:t>
            </a:r>
          </a:p>
        </p:txBody>
      </p:sp>
      <p:sp>
        <p:nvSpPr>
          <p:cNvPr id="25" name="Shape 5"/>
          <p:cNvSpPr/>
          <p:nvPr/>
        </p:nvSpPr>
        <p:spPr>
          <a:xfrm>
            <a:off x="731519" y="4114800"/>
            <a:ext cx="3200401" cy="0"/>
          </a:xfrm>
          <a:prstGeom prst="line">
            <a:avLst/>
          </a:prstGeom>
          <a:ln w="1524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777239" y="4284980"/>
            <a:ext cx="8138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0AEC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2026.05.12 (화)  |  19:00 — 22:00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777239" y="4605020"/>
            <a:ext cx="8138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1/4 회차  ·  3시간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777239" y="6139180"/>
            <a:ext cx="99669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데이터팝콘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594359" y="501141"/>
            <a:ext cx="104241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-30" sz="26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강사 소개</a:t>
            </a:r>
          </a:p>
        </p:txBody>
      </p:sp>
      <p:sp>
        <p:nvSpPr>
          <p:cNvPr id="32" name="Shape 2"/>
          <p:cNvSpPr/>
          <p:nvPr/>
        </p:nvSpPr>
        <p:spPr>
          <a:xfrm>
            <a:off x="548640" y="1554480"/>
            <a:ext cx="3200401" cy="4114801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554480"/>
            <a:ext cx="3200401" cy="41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 3"/>
          <p:cNvSpPr txBox="1"/>
          <p:nvPr/>
        </p:nvSpPr>
        <p:spPr>
          <a:xfrm>
            <a:off x="4251960" y="1536700"/>
            <a:ext cx="7342632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-50" sz="3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이인영</a:t>
            </a:r>
          </a:p>
        </p:txBody>
      </p:sp>
      <p:sp>
        <p:nvSpPr>
          <p:cNvPr id="35" name="Shape 4"/>
          <p:cNvSpPr/>
          <p:nvPr/>
        </p:nvSpPr>
        <p:spPr>
          <a:xfrm>
            <a:off x="4206240" y="2240279"/>
            <a:ext cx="914401" cy="1"/>
          </a:xfrm>
          <a:prstGeom prst="line">
            <a:avLst/>
          </a:prstGeom>
          <a:ln w="1905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5"/>
          <p:cNvSpPr txBox="1"/>
          <p:nvPr/>
        </p:nvSpPr>
        <p:spPr>
          <a:xfrm>
            <a:off x="4251960" y="2348229"/>
            <a:ext cx="734263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데이터팝콘 대표  ·  n8n Global Seoul Ambassador</a:t>
            </a:r>
          </a:p>
        </p:txBody>
      </p:sp>
      <p:sp>
        <p:nvSpPr>
          <p:cNvPr id="37" name="Text 6"/>
          <p:cNvSpPr txBox="1"/>
          <p:nvPr/>
        </p:nvSpPr>
        <p:spPr>
          <a:xfrm>
            <a:off x="4251960" y="2788920"/>
            <a:ext cx="7342632" cy="1441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쏘카·카카오스타일·쿠팡플레이에서 모빌리티, 이커머스, OTT, 광고 도메인을 경험하며 데이터 기반 의사결정을 했습니다. 2024년 데이터팝콘으로 솔로프리너 활동을 시작해, 2025년 AI 자동화 전문 스타트업을 창업했습니다.</a:t>
            </a:r>
          </a:p>
          <a:p>
            <a:pPr>
              <a:lnSpc>
                <a:spcPct val="150000"/>
              </a:lnSpc>
              <a:defRPr sz="1100"/>
            </a:pPr>
          </a:p>
          <a:p>
            <a:pPr>
              <a:lnSpc>
                <a:spcPct val="150000"/>
              </a:lnSpc>
              <a:defRPr sz="11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현재 국내 1호 n8n 글로벌 앰배서더로 기업·대학생·취업준비생 대상 AI 자동화 컨설팅과 강의를 진행하고 있습니다. Google I/O Seoul, 데이터야놀자 등에서 발표하며 유튜브 「데이터팝콘」과 링크드인에 실무 콘텐츠를 공유합니다.</a:t>
            </a:r>
          </a:p>
        </p:txBody>
      </p:sp>
      <p:sp>
        <p:nvSpPr>
          <p:cNvPr id="38" name="Shape 7"/>
          <p:cNvSpPr/>
          <p:nvPr/>
        </p:nvSpPr>
        <p:spPr>
          <a:xfrm>
            <a:off x="4206240" y="4206240"/>
            <a:ext cx="1652779" cy="178308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8"/>
          <p:cNvSpPr/>
          <p:nvPr/>
        </p:nvSpPr>
        <p:spPr>
          <a:xfrm>
            <a:off x="4206240" y="4206240"/>
            <a:ext cx="1652779" cy="45721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9"/>
          <p:cNvSpPr txBox="1"/>
          <p:nvPr/>
        </p:nvSpPr>
        <p:spPr>
          <a:xfrm>
            <a:off x="4389120" y="4312157"/>
            <a:ext cx="1287019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저서</a:t>
            </a:r>
          </a:p>
        </p:txBody>
      </p:sp>
      <p:sp>
        <p:nvSpPr>
          <p:cNvPr id="41" name="Text 10"/>
          <p:cNvSpPr txBox="1"/>
          <p:nvPr/>
        </p:nvSpPr>
        <p:spPr>
          <a:xfrm>
            <a:off x="4389120" y="4590288"/>
            <a:ext cx="1287019" cy="1307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한빛미디어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《n8n이 다 해줌》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위키독스 노코드 가이드</a:t>
            </a:r>
          </a:p>
        </p:txBody>
      </p:sp>
      <p:sp>
        <p:nvSpPr>
          <p:cNvPr id="42" name="Shape 11"/>
          <p:cNvSpPr/>
          <p:nvPr/>
        </p:nvSpPr>
        <p:spPr>
          <a:xfrm>
            <a:off x="6133338" y="4206240"/>
            <a:ext cx="1652779" cy="178308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12"/>
          <p:cNvSpPr/>
          <p:nvPr/>
        </p:nvSpPr>
        <p:spPr>
          <a:xfrm>
            <a:off x="6133338" y="4206240"/>
            <a:ext cx="1652779" cy="45721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3"/>
          <p:cNvSpPr txBox="1"/>
          <p:nvPr/>
        </p:nvSpPr>
        <p:spPr>
          <a:xfrm>
            <a:off x="6316217" y="4312157"/>
            <a:ext cx="12870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강의</a:t>
            </a:r>
          </a:p>
        </p:txBody>
      </p:sp>
      <p:sp>
        <p:nvSpPr>
          <p:cNvPr id="45" name="Text 14"/>
          <p:cNvSpPr txBox="1"/>
          <p:nvPr/>
        </p:nvSpPr>
        <p:spPr>
          <a:xfrm>
            <a:off x="6316217" y="4590288"/>
            <a:ext cx="1287020" cy="1307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인프런 n8n 완전정복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KDT 부트캠프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팀스파르타·러닝스푼즈</a:t>
            </a:r>
          </a:p>
        </p:txBody>
      </p:sp>
      <p:sp>
        <p:nvSpPr>
          <p:cNvPr id="46" name="Shape 15"/>
          <p:cNvSpPr/>
          <p:nvPr/>
        </p:nvSpPr>
        <p:spPr>
          <a:xfrm>
            <a:off x="8060435" y="4206240"/>
            <a:ext cx="1652779" cy="178308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16"/>
          <p:cNvSpPr/>
          <p:nvPr/>
        </p:nvSpPr>
        <p:spPr>
          <a:xfrm>
            <a:off x="8060435" y="4206240"/>
            <a:ext cx="1652779" cy="45721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17"/>
          <p:cNvSpPr txBox="1"/>
          <p:nvPr/>
        </p:nvSpPr>
        <p:spPr>
          <a:xfrm>
            <a:off x="8243315" y="4312157"/>
            <a:ext cx="1287019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발표</a:t>
            </a:r>
          </a:p>
        </p:txBody>
      </p:sp>
      <p:sp>
        <p:nvSpPr>
          <p:cNvPr id="49" name="Text 18"/>
          <p:cNvSpPr txBox="1"/>
          <p:nvPr/>
        </p:nvSpPr>
        <p:spPr>
          <a:xfrm>
            <a:off x="8243315" y="4590288"/>
            <a:ext cx="1287019" cy="1307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Google I/O Seoul 2025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데이터야놀자 2025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n8n Seoul Meetup 주최</a:t>
            </a:r>
          </a:p>
        </p:txBody>
      </p:sp>
      <p:sp>
        <p:nvSpPr>
          <p:cNvPr id="50" name="Shape 19"/>
          <p:cNvSpPr/>
          <p:nvPr/>
        </p:nvSpPr>
        <p:spPr>
          <a:xfrm>
            <a:off x="9987533" y="4206240"/>
            <a:ext cx="1652779" cy="178308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20"/>
          <p:cNvSpPr/>
          <p:nvPr/>
        </p:nvSpPr>
        <p:spPr>
          <a:xfrm>
            <a:off x="9987533" y="4206240"/>
            <a:ext cx="1652779" cy="45721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21"/>
          <p:cNvSpPr txBox="1"/>
          <p:nvPr/>
        </p:nvSpPr>
        <p:spPr>
          <a:xfrm>
            <a:off x="10170413" y="4312157"/>
            <a:ext cx="1287019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컨설팅</a:t>
            </a:r>
          </a:p>
        </p:txBody>
      </p:sp>
      <p:sp>
        <p:nvSpPr>
          <p:cNvPr id="53" name="Text 22"/>
          <p:cNvSpPr txBox="1"/>
          <p:nvPr/>
        </p:nvSpPr>
        <p:spPr>
          <a:xfrm>
            <a:off x="10170413" y="4590288"/>
            <a:ext cx="1287019" cy="1307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오늘의집·LG전자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Upstage·인천세종병원</a:t>
            </a:r>
          </a:p>
          <a:p>
            <a:pPr>
              <a:lnSpc>
                <a:spcPct val="125000"/>
              </a:lnSpc>
              <a:defRPr sz="9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외 기업 다수</a:t>
            </a:r>
          </a:p>
        </p:txBody>
      </p:sp>
      <p:sp>
        <p:nvSpPr>
          <p:cNvPr id="54" name="Text 23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"/>
          <p:cNvSpPr txBox="1"/>
          <p:nvPr/>
        </p:nvSpPr>
        <p:spPr>
          <a:xfrm>
            <a:off x="594359" y="501141"/>
            <a:ext cx="104241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-30" sz="26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오늘의 학습 목표</a:t>
            </a:r>
          </a:p>
        </p:txBody>
      </p:sp>
      <p:sp>
        <p:nvSpPr>
          <p:cNvPr id="58" name="Text 2"/>
          <p:cNvSpPr txBox="1"/>
          <p:nvPr/>
        </p:nvSpPr>
        <p:spPr>
          <a:xfrm>
            <a:off x="594359" y="1052576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 · 강의 종료 시점에 갖고 갈 것</a:t>
            </a:r>
          </a:p>
        </p:txBody>
      </p:sp>
      <p:sp>
        <p:nvSpPr>
          <p:cNvPr id="59" name="Shape 3"/>
          <p:cNvSpPr/>
          <p:nvPr/>
        </p:nvSpPr>
        <p:spPr>
          <a:xfrm>
            <a:off x="548640" y="1554480"/>
            <a:ext cx="5669280" cy="457200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162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" name="Shape 4"/>
          <p:cNvSpPr/>
          <p:nvPr/>
        </p:nvSpPr>
        <p:spPr>
          <a:xfrm>
            <a:off x="548640" y="1554480"/>
            <a:ext cx="5669280" cy="64009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5"/>
          <p:cNvSpPr txBox="1"/>
          <p:nvPr/>
        </p:nvSpPr>
        <p:spPr>
          <a:xfrm>
            <a:off x="822960" y="1695449"/>
            <a:ext cx="512064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학습 목표</a:t>
            </a:r>
          </a:p>
        </p:txBody>
      </p:sp>
      <p:sp>
        <p:nvSpPr>
          <p:cNvPr id="62" name="Text 6"/>
          <p:cNvSpPr txBox="1"/>
          <p:nvPr/>
        </p:nvSpPr>
        <p:spPr>
          <a:xfrm>
            <a:off x="822960" y="2148839"/>
            <a:ext cx="5120640" cy="208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1. Claude Desktop 앱에서 Code 메뉴로 Claude Code 설치 → claude 실행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2. 서울 열린데이터광장에서 미세먼지 CSV 직접 다운로드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3. 자연어 프롬프트 3개로 첫 분석 결과(요약·자치구별·월별) 받기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4. 본인 프로젝트용 CLAUDE.md 작성 → 인프런/운영 채널 업로드</a:t>
            </a:r>
          </a:p>
        </p:txBody>
      </p:sp>
      <p:sp>
        <p:nvSpPr>
          <p:cNvPr id="63" name="Shape 7"/>
          <p:cNvSpPr/>
          <p:nvPr/>
        </p:nvSpPr>
        <p:spPr>
          <a:xfrm>
            <a:off x="6400800" y="1554480"/>
            <a:ext cx="5212080" cy="4572001"/>
          </a:xfrm>
          <a:prstGeom prst="roundRect">
            <a:avLst>
              <a:gd name="adj" fmla="val 2000"/>
            </a:avLst>
          </a:prstGeom>
          <a:solidFill>
            <a:srgbClr val="1A1F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8"/>
          <p:cNvSpPr/>
          <p:nvPr/>
        </p:nvSpPr>
        <p:spPr>
          <a:xfrm>
            <a:off x="6400800" y="1554480"/>
            <a:ext cx="5212080" cy="64009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9"/>
          <p:cNvSpPr txBox="1"/>
          <p:nvPr/>
        </p:nvSpPr>
        <p:spPr>
          <a:xfrm>
            <a:off x="6675119" y="1695449"/>
            <a:ext cx="46634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500">
                <a:solidFill>
                  <a:srgbClr val="FFFFFF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핵심 메시지</a:t>
            </a:r>
          </a:p>
        </p:txBody>
      </p:sp>
      <p:sp>
        <p:nvSpPr>
          <p:cNvPr id="66" name="Text 10"/>
          <p:cNvSpPr txBox="1"/>
          <p:nvPr/>
        </p:nvSpPr>
        <p:spPr>
          <a:xfrm>
            <a:off x="6675119" y="2148839"/>
            <a:ext cx="4663441" cy="1835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spcBef>
                <a:spcPts val="1000"/>
              </a:spcBef>
              <a:defRPr sz="1300">
                <a:solidFill>
                  <a:srgbClr val="E2E8F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Claude Code는 코딩 도구가 아니라 작업 파트너</a:t>
            </a:r>
          </a:p>
          <a:p>
            <a:pPr>
              <a:lnSpc>
                <a:spcPct val="155000"/>
              </a:lnSpc>
              <a:spcBef>
                <a:spcPts val="1000"/>
              </a:spcBef>
              <a:defRPr sz="1300">
                <a:solidFill>
                  <a:srgbClr val="E2E8F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문법을 가르치지 않는다 — 일을 시키는 법을 가르친다</a:t>
            </a:r>
          </a:p>
          <a:p>
            <a:pPr>
              <a:lnSpc>
                <a:spcPct val="155000"/>
              </a:lnSpc>
              <a:spcBef>
                <a:spcPts val="1000"/>
              </a:spcBef>
              <a:defRPr sz="1300">
                <a:solidFill>
                  <a:srgbClr val="E2E8F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오늘은 결과 완성도보다 "체감"이 우선</a:t>
            </a:r>
          </a:p>
          <a:p>
            <a:pPr>
              <a:lnSpc>
                <a:spcPct val="155000"/>
              </a:lnSpc>
              <a:spcBef>
                <a:spcPts val="1000"/>
              </a:spcBef>
              <a:defRPr sz="1300">
                <a:solidFill>
                  <a:srgbClr val="E2E8F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데이터는 데이터 포털에서 직접 받는다 — 분석가의 일</a:t>
            </a:r>
          </a:p>
        </p:txBody>
      </p:sp>
      <p:sp>
        <p:nvSpPr>
          <p:cNvPr id="67" name="Text 11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3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"/>
          <p:cNvSpPr txBox="1"/>
          <p:nvPr/>
        </p:nvSpPr>
        <p:spPr>
          <a:xfrm>
            <a:off x="594359" y="501141"/>
            <a:ext cx="104241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-30" sz="26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오늘의 시간표</a:t>
            </a:r>
          </a:p>
        </p:txBody>
      </p:sp>
      <p:sp>
        <p:nvSpPr>
          <p:cNvPr id="71" name="Text 2"/>
          <p:cNvSpPr txBox="1"/>
          <p:nvPr/>
        </p:nvSpPr>
        <p:spPr>
          <a:xfrm>
            <a:off x="594359" y="1052576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파트별 진행 흐름</a:t>
            </a:r>
          </a:p>
        </p:txBody>
      </p:sp>
      <p:graphicFrame>
        <p:nvGraphicFramePr>
          <p:cNvPr id="72" name="Table 0"/>
          <p:cNvGraphicFramePr/>
          <p:nvPr/>
        </p:nvGraphicFramePr>
        <p:xfrm>
          <a:off x="548640" y="1554480"/>
          <a:ext cx="11091672" cy="32004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114800"/>
                <a:gridCol w="697687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파트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내용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1F36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오프닝 + Before/After 시연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A5568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강의 컨셉 + 미세먼지 CSV 라이브 시연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1F36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휴식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1F36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환경 세팅 (Claude Desktop)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A5568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Claude Desktop의 Code 메뉴로 Claude Code 설치 + 트러블슈팅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1F36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휴식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1F36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데이터 다운로드 + 첫 분석 + CLAUDE.md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A5568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미세먼지 직접 다운로드 → 3개 프롬프트 → CLAUDE.md 작성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A1F36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미션 안내 + Q&amp;A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A5568"/>
                          </a:solidFill>
                          <a:latin typeface="Noto Sans KR Thin Regular"/>
                          <a:ea typeface="Noto Sans KR Thin Regular"/>
                          <a:cs typeface="Noto Sans KR Thin Regular"/>
                          <a:sym typeface="Noto Sans KR Thin Regular"/>
                        </a:rPr>
                        <a:t>운영 채널 제출 동선</a:t>
                      </a:r>
                    </a:p>
                  </a:txBody>
                  <a:tcPr marL="63500" marR="63500" marT="63500" marB="63500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3" name="Text 3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4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1. 오프닝 + Before/After 시연</a:t>
            </a:r>
          </a:p>
        </p:txBody>
      </p:sp>
      <p:sp>
        <p:nvSpPr>
          <p:cNvPr id="77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1 / 5</a:t>
            </a:r>
          </a:p>
        </p:txBody>
      </p:sp>
      <p:sp>
        <p:nvSpPr>
          <p:cNvPr id="78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환영 + 4회차 흐름</a:t>
            </a:r>
          </a:p>
        </p:txBody>
      </p:sp>
      <p:sp>
        <p:nvSpPr>
          <p:cNvPr id="79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5"/>
          <p:cNvSpPr txBox="1"/>
          <p:nvPr/>
        </p:nvSpPr>
        <p:spPr>
          <a:xfrm>
            <a:off x="594360" y="3200400"/>
            <a:ext cx="11000232" cy="1393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4회차: 데이터 → EDA → 대시보드 → 의사결정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오늘 끝나면 "데이터 던지면 분석" 첫 경험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서울 미세먼지로 4회차를 끝까지 끌고 갑니다. (+추가 결합 데이터)</a:t>
            </a:r>
          </a:p>
        </p:txBody>
      </p:sp>
      <p:sp>
        <p:nvSpPr>
          <p:cNvPr id="81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5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1. 오프닝 + Before/After 시연</a:t>
            </a:r>
          </a:p>
        </p:txBody>
      </p:sp>
      <p:sp>
        <p:nvSpPr>
          <p:cNvPr id="85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2 / 5</a:t>
            </a:r>
          </a:p>
        </p:txBody>
      </p:sp>
      <p:sp>
        <p:nvSpPr>
          <p:cNvPr id="86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자료 수집·미션 제출 방법</a:t>
            </a:r>
          </a:p>
        </p:txBody>
      </p:sp>
      <p:sp>
        <p:nvSpPr>
          <p:cNvPr id="87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5"/>
          <p:cNvSpPr txBox="1"/>
          <p:nvPr/>
        </p:nvSpPr>
        <p:spPr>
          <a:xfrm>
            <a:off x="594360" y="3200400"/>
            <a:ext cx="11000232" cy="237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데이터 : 출처에서 직접 다운로드 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- 미세먼지·따릉이·지하철 → 서울 열린데이터광장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- 날씨 → 기상자료개방포털  ·  검색량 → 네이버 데이터랩·구글 트렌드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시연 프롬프트: PPT 코드 블록을 그대로 복사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미션 제출: 인프런/운영 채널에 결과(PNG · CLAUDE.md) 업로드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6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1. 오프닝 + Before/After 시연</a:t>
            </a:r>
          </a:p>
        </p:txBody>
      </p:sp>
      <p:sp>
        <p:nvSpPr>
          <p:cNvPr id="93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3 / 5</a:t>
            </a:r>
          </a:p>
        </p:txBody>
      </p:sp>
      <p:sp>
        <p:nvSpPr>
          <p:cNvPr id="94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Before — ChatGPT에 복붙하던 시절</a:t>
            </a:r>
          </a:p>
        </p:txBody>
      </p:sp>
      <p:sp>
        <p:nvSpPr>
          <p:cNvPr id="95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5"/>
          <p:cNvSpPr txBox="1"/>
          <p:nvPr/>
        </p:nvSpPr>
        <p:spPr>
          <a:xfrm>
            <a:off x="594360" y="3200400"/>
            <a:ext cx="11000232" cy="18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주피터에 CSV 로드 코드 직접 작성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"CP949 인코딩" 질문 → 답 받기 → 복붙 → 실행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한글 폰트 깨짐 → 다시 질문 → 다시 복붙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"매번 이렇게 삽질..." 의 반복</a:t>
            </a:r>
          </a:p>
        </p:txBody>
      </p:sp>
      <p:sp>
        <p:nvSpPr>
          <p:cNvPr id="97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7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1. 오프닝 + Before/After 시연</a:t>
            </a:r>
          </a:p>
        </p:txBody>
      </p:sp>
      <p:sp>
        <p:nvSpPr>
          <p:cNvPr id="101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4 / 5</a:t>
            </a:r>
          </a:p>
        </p:txBody>
      </p:sp>
      <p:sp>
        <p:nvSpPr>
          <p:cNvPr id="102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After — Claude Code, 한 문장이면 끝</a:t>
            </a:r>
          </a:p>
        </p:txBody>
      </p:sp>
      <p:sp>
        <p:nvSpPr>
          <p:cNvPr id="103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5"/>
          <p:cNvSpPr txBox="1"/>
          <p:nvPr/>
        </p:nvSpPr>
        <p:spPr>
          <a:xfrm>
            <a:off x="594360" y="3200400"/>
            <a:ext cx="11000232" cy="1393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한 문장이면 인코딩·폰트·집계·차트까지 자동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일부러 오타를 내도 "다시 해줘" 한마디로 복구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"에러 나면 어떡하지?" 걱정 일단 내려놓으세요</a:t>
            </a:r>
          </a:p>
        </p:txBody>
      </p:sp>
      <p:sp>
        <p:nvSpPr>
          <p:cNvPr id="105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8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1. 오프닝 + Before/After 시연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594360" y="946403"/>
            <a:ext cx="1100023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💬 함께 볼 시연 프롬프트 — 따라 치지 않으셔도 됩니다</a:t>
            </a:r>
          </a:p>
        </p:txBody>
      </p:sp>
      <p:sp>
        <p:nvSpPr>
          <p:cNvPr id="110" name="Text 3"/>
          <p:cNvSpPr txBox="1"/>
          <p:nvPr/>
        </p:nvSpPr>
        <p:spPr>
          <a:xfrm>
            <a:off x="594360" y="1508760"/>
            <a:ext cx="11000232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pc="-50" sz="34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두 해 통합 PM2.5 자치구별 비교를 한 문장으로</a:t>
            </a:r>
          </a:p>
        </p:txBody>
      </p:sp>
      <p:sp>
        <p:nvSpPr>
          <p:cNvPr id="111" name="Shape 4"/>
          <p:cNvSpPr/>
          <p:nvPr/>
        </p:nvSpPr>
        <p:spPr>
          <a:xfrm>
            <a:off x="548640" y="2606039"/>
            <a:ext cx="1828801" cy="1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5"/>
          <p:cNvSpPr/>
          <p:nvPr/>
        </p:nvSpPr>
        <p:spPr>
          <a:xfrm>
            <a:off x="548640" y="2926079"/>
            <a:ext cx="11091672" cy="3200401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6"/>
          <p:cNvSpPr txBox="1"/>
          <p:nvPr/>
        </p:nvSpPr>
        <p:spPr>
          <a:xfrm>
            <a:off x="758951" y="3035807"/>
            <a:ext cx="10671049" cy="755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이 폴더에 기간별_일평균_대기환경_정보_2024년.csv + 기간별_일평균_대기환경_정보_2025년.csv 있어.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두 파일 모두 인코딩은 CP949(EUC-KR 호환)야. 통합해서 자치구별 PM2.5 연평균을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2024 vs 2025 비교 막대그래프로, 한글 폰트 깨지지 않게 그려줘.</a:t>
            </a:r>
          </a:p>
        </p:txBody>
      </p:sp>
      <p:sp>
        <p:nvSpPr>
          <p:cNvPr id="114" name="Text 7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9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 · BEFORE/AFTER DEMO</a:t>
            </a:r>
          </a:p>
        </p:txBody>
      </p:sp>
      <p:sp>
        <p:nvSpPr>
          <p:cNvPr id="118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 만든 결과물</a:t>
            </a:r>
          </a:p>
        </p:txBody>
      </p:sp>
      <p:sp>
        <p:nvSpPr>
          <p:cNvPr id="119" name="Text 3"/>
          <p:cNvSpPr txBox="1"/>
          <p:nvPr/>
        </p:nvSpPr>
        <p:spPr>
          <a:xfrm>
            <a:off x="594360" y="1417319"/>
            <a:ext cx="1100023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pc="-30" sz="28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시연 결과 — "한 문장으로 5분이면 끝"</a:t>
            </a:r>
          </a:p>
        </p:txBody>
      </p:sp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4560" y="2240279"/>
            <a:ext cx="77724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 4"/>
          <p:cNvSpPr txBox="1"/>
          <p:nvPr/>
        </p:nvSpPr>
        <p:spPr>
          <a:xfrm>
            <a:off x="594360" y="6041390"/>
            <a:ext cx="1100023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자치구별 PM2.5 연평균 2024 vs 2025 막대그래프</a:t>
            </a:r>
          </a:p>
        </p:txBody>
      </p:sp>
      <p:sp>
        <p:nvSpPr>
          <p:cNvPr id="122" name="Text 5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10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1. 오프닝 + Before/After 시연</a:t>
            </a:r>
          </a:p>
        </p:txBody>
      </p:sp>
      <p:sp>
        <p:nvSpPr>
          <p:cNvPr id="126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5 / 5</a:t>
            </a:r>
          </a:p>
        </p:txBody>
      </p:sp>
      <p:sp>
        <p:nvSpPr>
          <p:cNvPr id="127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답 안 되는 질문도 분석가의 일</a:t>
            </a:r>
          </a:p>
        </p:txBody>
      </p:sp>
      <p:sp>
        <p:nvSpPr>
          <p:cNvPr id="128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5"/>
          <p:cNvSpPr txBox="1"/>
          <p:nvPr/>
        </p:nvSpPr>
        <p:spPr>
          <a:xfrm>
            <a:off x="594360" y="3200400"/>
            <a:ext cx="11000232" cy="18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좋은 질문이지만 현재 데이터로는 답 안 되는 것들도 있다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예: "코로나 봉쇄 전후" — 배포본은 2024+2025 → 답 불가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예: "출근시간 7~9시 PM" — 일별 데이터 → 시간대 분석 불가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"데이터를 더 받거나 다른 후보로" 라는 의사결정으로 연결</a:t>
            </a:r>
          </a:p>
        </p:txBody>
      </p:sp>
      <p:sp>
        <p:nvSpPr>
          <p:cNvPr id="130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11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2. 환경 세팅 (Claude Desktop)</a:t>
            </a:r>
          </a:p>
        </p:txBody>
      </p:sp>
      <p:sp>
        <p:nvSpPr>
          <p:cNvPr id="134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1 / 4</a:t>
            </a:r>
          </a:p>
        </p:txBody>
      </p:sp>
      <p:sp>
        <p:nvSpPr>
          <p:cNvPr id="135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1단계 — Claude Desktop App 설치하기</a:t>
            </a:r>
          </a:p>
        </p:txBody>
      </p:sp>
      <p:sp>
        <p:nvSpPr>
          <p:cNvPr id="136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5"/>
          <p:cNvSpPr txBox="1"/>
          <p:nvPr/>
        </p:nvSpPr>
        <p:spPr>
          <a:xfrm>
            <a:off x="594360" y="3200400"/>
            <a:ext cx="11000232" cy="1393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https://claude.ai/download 에서 본인 OS용 다운로드 → 설치 → 실행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Pro/Max 계정으로 로그인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좌측 사이드바에 "Code" 항목이 보이는지 확인 (없으면 앱 업데이트)</a:t>
            </a:r>
          </a:p>
        </p:txBody>
      </p:sp>
      <p:sp>
        <p:nvSpPr>
          <p:cNvPr id="138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12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2. 환경 세팅 (Claude Desktop)</a:t>
            </a:r>
          </a:p>
        </p:txBody>
      </p:sp>
      <p:sp>
        <p:nvSpPr>
          <p:cNvPr id="142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2 / 4</a:t>
            </a:r>
          </a:p>
        </p:txBody>
      </p:sp>
      <p:sp>
        <p:nvSpPr>
          <p:cNvPr id="143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2단계 — 바탕화면에 작업 폴더 만들기</a:t>
            </a:r>
          </a:p>
        </p:txBody>
      </p:sp>
      <p:sp>
        <p:nvSpPr>
          <p:cNvPr id="144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5"/>
          <p:cNvSpPr txBox="1"/>
          <p:nvPr/>
        </p:nvSpPr>
        <p:spPr>
          <a:xfrm>
            <a:off x="594360" y="3200400"/>
            <a:ext cx="11000232" cy="18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폴더 이름: inflearn_ccd_challenge (강의용 통일)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위치: 바탕화면 (찾기 쉬운 곳이면 어디든)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이 폴더 하나가 4회차 내내 작업 폴더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— 데이터·CLAUDE.md·산출물 모두 여기</a:t>
            </a:r>
          </a:p>
        </p:txBody>
      </p:sp>
      <p:sp>
        <p:nvSpPr>
          <p:cNvPr id="146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13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2. 환경 세팅 (Claude Desktop)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3 / 4</a:t>
            </a:r>
          </a:p>
        </p:txBody>
      </p:sp>
      <p:sp>
        <p:nvSpPr>
          <p:cNvPr id="151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3단계 — 데스크톱 앱에서 Claude Code 설치</a:t>
            </a:r>
          </a:p>
        </p:txBody>
      </p:sp>
      <p:sp>
        <p:nvSpPr>
          <p:cNvPr id="152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5"/>
          <p:cNvSpPr txBox="1"/>
          <p:nvPr/>
        </p:nvSpPr>
        <p:spPr>
          <a:xfrm>
            <a:off x="594360" y="3200400"/>
            <a:ext cx="11000232" cy="237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Claude Desktop 좌측 메뉴에서 "Code" 클릭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작업 폴더로 inflearn_ccd_challenge 지정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앱 안내에 따라 Claude Code 설치 진행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(Node.js 등 사전 준비 자동 처리)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수강생은 터미널 명령어 외우거나 직접 칠 필요 X</a:t>
            </a:r>
          </a:p>
        </p:txBody>
      </p:sp>
      <p:sp>
        <p:nvSpPr>
          <p:cNvPr id="154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14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2. 환경 세팅 (Claude Desktop)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4 / 4</a:t>
            </a:r>
          </a:p>
        </p:txBody>
      </p:sp>
      <p:sp>
        <p:nvSpPr>
          <p:cNvPr id="159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4단계 — claude 첫 실행 + 인증</a:t>
            </a:r>
          </a:p>
        </p:txBody>
      </p:sp>
      <p:sp>
        <p:nvSpPr>
          <p:cNvPr id="160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5"/>
          <p:cNvSpPr txBox="1"/>
          <p:nvPr/>
        </p:nvSpPr>
        <p:spPr>
          <a:xfrm>
            <a:off x="594360" y="3200400"/>
            <a:ext cx="11000232" cy="18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설치 끝나면 터미널에서 claude 명령어 실행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브라우저로 Anthropic 계정 인증 1회 (Pro/Max 로그인 상태 필요)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인증 끝나면 Claude Code 프롬프트 진입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이제부터 모든 분석은 여기서</a:t>
            </a:r>
          </a:p>
        </p:txBody>
      </p:sp>
      <p:sp>
        <p:nvSpPr>
          <p:cNvPr id="162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15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2. 환경 세팅 (Claude Desktop)</a:t>
            </a:r>
          </a:p>
        </p:txBody>
      </p:sp>
      <p:sp>
        <p:nvSpPr>
          <p:cNvPr id="166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4 / 4</a:t>
            </a:r>
          </a:p>
        </p:txBody>
      </p:sp>
      <p:sp>
        <p:nvSpPr>
          <p:cNvPr id="167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보너스 — OpenAI Codex 설치</a:t>
            </a:r>
          </a:p>
        </p:txBody>
      </p:sp>
      <p:sp>
        <p:nvSpPr>
          <p:cNvPr id="168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5"/>
          <p:cNvSpPr txBox="1"/>
          <p:nvPr/>
        </p:nvSpPr>
        <p:spPr>
          <a:xfrm>
            <a:off x="594360" y="3200400"/>
            <a:ext cx="11000232" cy="2606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266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(ChatGPT 구독중이신분들 대상)</a:t>
            </a:r>
            <a:endParaRPr sz="1200">
              <a:solidFill>
                <a:srgbClr val="000000"/>
              </a:solidFill>
            </a:endParaRPr>
          </a:p>
          <a:p>
            <a:pPr defTabSz="457200">
              <a:defRPr sz="2266" u="sng">
                <a:solidFill>
                  <a:srgbClr val="0563C1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rPr u="none">
                <a:solidFill>
                  <a:srgbClr val="4A5568"/>
                </a:solidFill>
              </a:rPr>
              <a:t>· </a:t>
            </a:r>
            <a:r>
              <a:rPr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Claude Desktop App</a:t>
            </a:r>
            <a:r>
              <a:rPr u="none">
                <a:solidFill>
                  <a:srgbClr val="4A5568"/>
                </a:solidFill>
              </a:rPr>
              <a:t> 설치하기</a:t>
            </a:r>
            <a:endParaRPr sz="1200" u="none">
              <a:solidFill>
                <a:srgbClr val="000000"/>
              </a:solidFill>
            </a:endParaRPr>
          </a:p>
          <a:p>
            <a:pPr defTabSz="457200">
              <a:defRPr sz="2266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바탕화면에 “inflearn_ccd_challenge” 새폴더 만들기</a:t>
            </a:r>
            <a:endParaRPr sz="1200">
              <a:solidFill>
                <a:srgbClr val="000000"/>
              </a:solidFill>
            </a:endParaRPr>
          </a:p>
          <a:p>
            <a:pPr defTabSz="457200">
              <a:defRPr sz="2266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데스크톱앱에서 “Code”를 누르고 “inflearn_ccd_challenge” 지정 후 Claude Code 설치하기 진행</a:t>
            </a:r>
            <a:endParaRPr sz="1200">
              <a:solidFill>
                <a:srgbClr val="000000"/>
              </a:solidFill>
            </a:endParaRPr>
          </a:p>
          <a:p>
            <a:pPr defTabSz="457200">
              <a:defRPr sz="2266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claude 명령어 → 브라우저로 Anthropic 계정 인증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173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1 / 5</a:t>
            </a:r>
          </a:p>
        </p:txBody>
      </p:sp>
      <p:sp>
        <p:nvSpPr>
          <p:cNvPr id="174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1단계 — 미세먼지 데이터 다운로드</a:t>
            </a:r>
          </a:p>
        </p:txBody>
      </p:sp>
      <p:sp>
        <p:nvSpPr>
          <p:cNvPr id="175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5"/>
          <p:cNvSpPr txBox="1"/>
          <p:nvPr/>
        </p:nvSpPr>
        <p:spPr>
          <a:xfrm>
            <a:off x="594360" y="3200400"/>
            <a:ext cx="11000232" cy="424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1) https://data.seoul.go.kr/dataList/OA-2218/S/1/datasetView.do 접속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2) 페이지 상단 탭 중 "파일" 클릭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3) 자료 목록에서 2024년 행 → [다운로드] 클릭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 → 받아지는 파일명: 기간별_일평균_대기환경_정보_2024년.csv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4) 같은 방식으로 2025년 행 다운로드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 → 받아지는 파일명: 기간별_일평균_대기환경_정보_2025년.csv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5) 두 파일을 작업 폴더(inflearn_ccd_challenge)로 이동</a:t>
            </a:r>
          </a:p>
          <a:p>
            <a:pPr>
              <a:lnSpc>
                <a:spcPct val="155000"/>
              </a:lnSpc>
              <a:defRPr sz="1700"/>
            </a:pP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※ 받기 정말 어려운 분만 운영 채널로 강사에게 요청</a:t>
            </a:r>
          </a:p>
        </p:txBody>
      </p:sp>
      <p:sp>
        <p:nvSpPr>
          <p:cNvPr id="177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16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 · DATA SOURCE</a:t>
            </a:r>
          </a:p>
        </p:txBody>
      </p:sp>
      <p:sp>
        <p:nvSpPr>
          <p:cNvPr id="181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 만든 결과물</a:t>
            </a:r>
          </a:p>
        </p:txBody>
      </p:sp>
      <p:sp>
        <p:nvSpPr>
          <p:cNvPr id="182" name="Text 3"/>
          <p:cNvSpPr txBox="1"/>
          <p:nvPr/>
        </p:nvSpPr>
        <p:spPr>
          <a:xfrm>
            <a:off x="594360" y="1417319"/>
            <a:ext cx="1100023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pc="-30" sz="28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서울 열린데이터광장 OA-2218 — 다운로드 화면</a:t>
            </a:r>
          </a:p>
        </p:txBody>
      </p:sp>
      <p:sp>
        <p:nvSpPr>
          <p:cNvPr id="183" name="Shape 4"/>
          <p:cNvSpPr/>
          <p:nvPr/>
        </p:nvSpPr>
        <p:spPr>
          <a:xfrm>
            <a:off x="2194560" y="2240279"/>
            <a:ext cx="7772401" cy="3657601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5"/>
          <p:cNvSpPr txBox="1"/>
          <p:nvPr/>
        </p:nvSpPr>
        <p:spPr>
          <a:xfrm>
            <a:off x="2240280" y="3691889"/>
            <a:ext cx="7680960" cy="754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📷  결과 이미지 위치</a:t>
            </a:r>
          </a:p>
          <a:p>
            <a:pPr algn="ctr">
              <a:lnSpc>
                <a:spcPct val="140000"/>
              </a:lnSpc>
              <a:defRPr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(강의 시연 캡처가 들어갈 자리)</a:t>
            </a:r>
          </a:p>
        </p:txBody>
      </p:sp>
      <p:sp>
        <p:nvSpPr>
          <p:cNvPr id="185" name="Text 6"/>
          <p:cNvSpPr txBox="1"/>
          <p:nvPr/>
        </p:nvSpPr>
        <p:spPr>
          <a:xfrm>
            <a:off x="2240280" y="5044439"/>
            <a:ext cx="76809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718096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</a:lstStyle>
          <a:p>
            <a:pPr/>
            <a:r>
              <a:t>screenshots/day1/seoul_open_data_oa2218.png</a:t>
            </a:r>
          </a:p>
        </p:txBody>
      </p:sp>
      <p:sp>
        <p:nvSpPr>
          <p:cNvPr id="186" name="Text 7"/>
          <p:cNvSpPr txBox="1"/>
          <p:nvPr/>
        </p:nvSpPr>
        <p:spPr>
          <a:xfrm>
            <a:off x="594360" y="6041390"/>
            <a:ext cx="1100023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"파일" 탭에서 2024·2025 두 해 CSV 다운로드</a:t>
            </a:r>
          </a:p>
        </p:txBody>
      </p:sp>
      <p:sp>
        <p:nvSpPr>
          <p:cNvPr id="187" name="Text 8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17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2 / 5</a:t>
            </a:r>
          </a:p>
        </p:txBody>
      </p:sp>
      <p:sp>
        <p:nvSpPr>
          <p:cNvPr id="192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데이터 한눈에 보기</a:t>
            </a:r>
          </a:p>
        </p:txBody>
      </p:sp>
      <p:sp>
        <p:nvSpPr>
          <p:cNvPr id="193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5"/>
          <p:cNvSpPr txBox="1"/>
          <p:nvPr/>
        </p:nvSpPr>
        <p:spPr>
          <a:xfrm>
            <a:off x="594360" y="3200400"/>
            <a:ext cx="11000232" cy="237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규모: 18,275행 (2024: 9,150 + 2025: 9,125)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컬럼 9개: 측정일시·권역명·측정소명·이산화질소·오존·일산화탄소·아황산가스·미세먼지·초미세먼지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인코딩: CP949 (한글이 EUC-KR 방식)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컬럼명 살짝 다름: 2024 "미세먼지" vs 2025 "미세먼지농도"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측정소: 서울 25개 자치구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18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199" name="Text 2"/>
          <p:cNvSpPr txBox="1"/>
          <p:nvPr/>
        </p:nvSpPr>
        <p:spPr>
          <a:xfrm>
            <a:off x="594360" y="946403"/>
            <a:ext cx="1100023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💬 함께 볼 시연 프롬프트 — 따라 치지 않으셔도 됩니다</a:t>
            </a:r>
          </a:p>
        </p:txBody>
      </p:sp>
      <p:sp>
        <p:nvSpPr>
          <p:cNvPr id="200" name="Text 3"/>
          <p:cNvSpPr txBox="1"/>
          <p:nvPr/>
        </p:nvSpPr>
        <p:spPr>
          <a:xfrm>
            <a:off x="594360" y="1508760"/>
            <a:ext cx="11000232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pc="-50" sz="34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2단계 — 이 데이터, 어떻게 생겼지?</a:t>
            </a:r>
          </a:p>
        </p:txBody>
      </p:sp>
      <p:sp>
        <p:nvSpPr>
          <p:cNvPr id="201" name="Shape 4"/>
          <p:cNvSpPr/>
          <p:nvPr/>
        </p:nvSpPr>
        <p:spPr>
          <a:xfrm>
            <a:off x="548640" y="2606039"/>
            <a:ext cx="1828801" cy="1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5"/>
          <p:cNvSpPr/>
          <p:nvPr/>
        </p:nvSpPr>
        <p:spPr>
          <a:xfrm>
            <a:off x="548640" y="2926079"/>
            <a:ext cx="11091672" cy="3200401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6"/>
          <p:cNvSpPr txBox="1"/>
          <p:nvPr/>
        </p:nvSpPr>
        <p:spPr>
          <a:xfrm>
            <a:off x="758951" y="3035807"/>
            <a:ext cx="10671049" cy="1245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이 폴더의 기간별_일평균_대기환경_정보_2024년.csv 와 기간별_일평균_대기환경_정보_2025년.csv 둘 다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읽어서 어떤 데이터인지 요약해줘. 둘 다 인코딩은 CP949야.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원본 9개 컬럼(측정일시·권역명·측정소명·이산화질소·오존·일산화탄소·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아황산가스·미세먼지·초미세먼지) 그대로 보여주고, 컬럼명 통일해주고,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연도별 행 수·결측 비율·날짜 범위 알려줘.</a:t>
            </a:r>
          </a:p>
        </p:txBody>
      </p:sp>
      <p:sp>
        <p:nvSpPr>
          <p:cNvPr id="204" name="Text 7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19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 · STEP 2</a:t>
            </a:r>
          </a:p>
        </p:txBody>
      </p:sp>
      <p:sp>
        <p:nvSpPr>
          <p:cNvPr id="208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 만든 결과물</a:t>
            </a:r>
          </a:p>
        </p:txBody>
      </p:sp>
      <p:sp>
        <p:nvSpPr>
          <p:cNvPr id="209" name="Text 3"/>
          <p:cNvSpPr txBox="1"/>
          <p:nvPr/>
        </p:nvSpPr>
        <p:spPr>
          <a:xfrm>
            <a:off x="594360" y="1417319"/>
            <a:ext cx="1100023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pc="-30" sz="28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2단계 결과 — 데이터 요약</a:t>
            </a:r>
          </a:p>
        </p:txBody>
      </p:sp>
      <p:pic>
        <p:nvPicPr>
          <p:cNvPr id="2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4560" y="2240279"/>
            <a:ext cx="77724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4"/>
          <p:cNvSpPr txBox="1"/>
          <p:nvPr/>
        </p:nvSpPr>
        <p:spPr>
          <a:xfrm>
            <a:off x="594360" y="6041390"/>
            <a:ext cx="1100023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shape · dtypes · 결측 비율 · 날짜 범위</a:t>
            </a:r>
          </a:p>
        </p:txBody>
      </p:sp>
      <p:sp>
        <p:nvSpPr>
          <p:cNvPr id="212" name="Text 5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20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216" name="Text 2"/>
          <p:cNvSpPr txBox="1"/>
          <p:nvPr/>
        </p:nvSpPr>
        <p:spPr>
          <a:xfrm>
            <a:off x="594360" y="946403"/>
            <a:ext cx="1100023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💬 함께 볼 시연 프롬프트 — 따라 치지 않으셔도 됩니다</a:t>
            </a:r>
          </a:p>
        </p:txBody>
      </p:sp>
      <p:sp>
        <p:nvSpPr>
          <p:cNvPr id="217" name="Text 3"/>
          <p:cNvSpPr txBox="1"/>
          <p:nvPr/>
        </p:nvSpPr>
        <p:spPr>
          <a:xfrm>
            <a:off x="594360" y="1508760"/>
            <a:ext cx="11000232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pc="-50" sz="34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3단계 — 자치구별 PM2.5 연평균 (2024 vs 2025)</a:t>
            </a:r>
          </a:p>
        </p:txBody>
      </p:sp>
      <p:sp>
        <p:nvSpPr>
          <p:cNvPr id="218" name="Shape 4"/>
          <p:cNvSpPr/>
          <p:nvPr/>
        </p:nvSpPr>
        <p:spPr>
          <a:xfrm>
            <a:off x="548640" y="2606039"/>
            <a:ext cx="1828801" cy="1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Shape 5"/>
          <p:cNvSpPr/>
          <p:nvPr/>
        </p:nvSpPr>
        <p:spPr>
          <a:xfrm>
            <a:off x="548640" y="2926079"/>
            <a:ext cx="11091672" cy="3200401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6"/>
          <p:cNvSpPr txBox="1"/>
          <p:nvPr/>
        </p:nvSpPr>
        <p:spPr>
          <a:xfrm>
            <a:off x="758951" y="3035807"/>
            <a:ext cx="10671049" cy="100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자치구별 PM2.5 연평균을 2024와 2025 두 해 비교 막대그래프로,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한글 폰트 안 깨지게 그려줘.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같은 자치구가 가로축에서 두 해 막대로 나란히 보이게.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yoy_district_pm25.png 로 저장.</a:t>
            </a:r>
          </a:p>
        </p:txBody>
      </p:sp>
      <p:sp>
        <p:nvSpPr>
          <p:cNvPr id="221" name="Text 7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21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 · STEP 3</a:t>
            </a:r>
          </a:p>
        </p:txBody>
      </p:sp>
      <p:sp>
        <p:nvSpPr>
          <p:cNvPr id="225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 만든 결과물</a:t>
            </a:r>
          </a:p>
        </p:txBody>
      </p:sp>
      <p:sp>
        <p:nvSpPr>
          <p:cNvPr id="226" name="Text 3"/>
          <p:cNvSpPr txBox="1"/>
          <p:nvPr/>
        </p:nvSpPr>
        <p:spPr>
          <a:xfrm>
            <a:off x="594360" y="1417319"/>
            <a:ext cx="1100023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pc="-30" sz="28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3단계 결과 — 자치구별 PM2.5 비교</a:t>
            </a:r>
          </a:p>
        </p:txBody>
      </p:sp>
      <p:pic>
        <p:nvPicPr>
          <p:cNvPr id="2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4560" y="2240279"/>
            <a:ext cx="77724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 4"/>
          <p:cNvSpPr txBox="1"/>
          <p:nvPr/>
        </p:nvSpPr>
        <p:spPr>
          <a:xfrm>
            <a:off x="594360" y="6041390"/>
            <a:ext cx="1100023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25개 자치구 × 2개 연도 막대그래프</a:t>
            </a:r>
          </a:p>
        </p:txBody>
      </p:sp>
      <p:sp>
        <p:nvSpPr>
          <p:cNvPr id="229" name="Text 5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22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233" name="Text 2"/>
          <p:cNvSpPr txBox="1"/>
          <p:nvPr/>
        </p:nvSpPr>
        <p:spPr>
          <a:xfrm>
            <a:off x="594360" y="946403"/>
            <a:ext cx="1100023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💬 함께 볼 시연 프롬프트 — 따라 치지 않으셔도 됩니다</a:t>
            </a:r>
          </a:p>
        </p:txBody>
      </p:sp>
      <p:sp>
        <p:nvSpPr>
          <p:cNvPr id="234" name="Text 3"/>
          <p:cNvSpPr txBox="1"/>
          <p:nvPr/>
        </p:nvSpPr>
        <p:spPr>
          <a:xfrm>
            <a:off x="594360" y="1508760"/>
            <a:ext cx="11000232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pc="-50" sz="34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4단계 — 월별 추이 + 황사 시즌</a:t>
            </a:r>
          </a:p>
        </p:txBody>
      </p:sp>
      <p:sp>
        <p:nvSpPr>
          <p:cNvPr id="235" name="Shape 4"/>
          <p:cNvSpPr/>
          <p:nvPr/>
        </p:nvSpPr>
        <p:spPr>
          <a:xfrm>
            <a:off x="548640" y="2606039"/>
            <a:ext cx="1828801" cy="1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Shape 5"/>
          <p:cNvSpPr/>
          <p:nvPr/>
        </p:nvSpPr>
        <p:spPr>
          <a:xfrm>
            <a:off x="548640" y="2926079"/>
            <a:ext cx="11091672" cy="3200401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6"/>
          <p:cNvSpPr txBox="1"/>
          <p:nvPr/>
        </p:nvSpPr>
        <p:spPr>
          <a:xfrm>
            <a:off x="758951" y="3035807"/>
            <a:ext cx="10671049" cy="100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월별 PM2.5 추이를 2024와 2025 두 해 라인차트로 같이 그려줘.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황사 시즌(3~5월) 영역을 음영 처리하고,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2025 황사 시즌이 작년 대비 강해졌는지 한 줄로 해석.</a:t>
            </a:r>
          </a:p>
          <a:p>
            <a:pPr>
              <a:lnSpc>
                <a:spcPct val="140000"/>
              </a:lnSpc>
              <a:defRPr sz="1100">
                <a:solidFill>
                  <a:srgbClr val="1A1F3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yoy_monthly_pm25.png 로 저장.</a:t>
            </a:r>
          </a:p>
        </p:txBody>
      </p:sp>
      <p:sp>
        <p:nvSpPr>
          <p:cNvPr id="238" name="Text 7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23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1 · STEP 4</a:t>
            </a:r>
          </a:p>
        </p:txBody>
      </p:sp>
      <p:sp>
        <p:nvSpPr>
          <p:cNvPr id="242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오늘 만든 결과물</a:t>
            </a:r>
          </a:p>
        </p:txBody>
      </p:sp>
      <p:sp>
        <p:nvSpPr>
          <p:cNvPr id="243" name="Text 3"/>
          <p:cNvSpPr txBox="1"/>
          <p:nvPr/>
        </p:nvSpPr>
        <p:spPr>
          <a:xfrm>
            <a:off x="594360" y="1417319"/>
            <a:ext cx="1100023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pc="-30" sz="28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4단계 결과 — 월별 추이 + 황사 시즌</a:t>
            </a:r>
          </a:p>
        </p:txBody>
      </p:sp>
      <p:pic>
        <p:nvPicPr>
          <p:cNvPr id="2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4560" y="2240279"/>
            <a:ext cx="77724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ext 4"/>
          <p:cNvSpPr txBox="1"/>
          <p:nvPr/>
        </p:nvSpPr>
        <p:spPr>
          <a:xfrm>
            <a:off x="594360" y="6041390"/>
            <a:ext cx="1100023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월별 PM2.5 (2024 vs 2025) + 황사 시즌 음영</a:t>
            </a:r>
          </a:p>
        </p:txBody>
      </p:sp>
      <p:sp>
        <p:nvSpPr>
          <p:cNvPr id="246" name="Text 5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24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250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4 / 5</a:t>
            </a:r>
          </a:p>
        </p:txBody>
      </p:sp>
      <p:sp>
        <p:nvSpPr>
          <p:cNvPr id="251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CLAUDE.md 작성 — 매번 설명 안 하려고</a:t>
            </a:r>
          </a:p>
        </p:txBody>
      </p:sp>
      <p:sp>
        <p:nvSpPr>
          <p:cNvPr id="252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5"/>
          <p:cNvSpPr txBox="1"/>
          <p:nvPr/>
        </p:nvSpPr>
        <p:spPr>
          <a:xfrm>
            <a:off x="594360" y="3200400"/>
            <a:ext cx="11000232" cy="2272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Claude Code 작업 폴더에 두는 "프로젝트 컨텍스트 메모"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인코딩·폰트·출력 언어·데이터 위치 같은 기본 전제를 한 번에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한 번 적어두면 다음 분석부터 한 문장 명령으로 끝</a:t>
            </a:r>
          </a:p>
          <a:p>
            <a:pPr>
              <a:lnSpc>
                <a:spcPct val="155000"/>
              </a:lnSpc>
              <a:defRPr sz="1700"/>
            </a:pP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버전 구분(v1/v2) 안 함 — 폴더(day1/, day2/)로 히스토리 관리</a:t>
            </a:r>
          </a:p>
        </p:txBody>
      </p:sp>
      <p:sp>
        <p:nvSpPr>
          <p:cNvPr id="254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25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1"/>
          <p:cNvSpPr txBox="1"/>
          <p:nvPr/>
        </p:nvSpPr>
        <p:spPr>
          <a:xfrm>
            <a:off x="594359" y="563371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파트 3. 데이터 다운로드 + 첫 분석 + CLAUDE.md</a:t>
            </a:r>
          </a:p>
        </p:txBody>
      </p:sp>
      <p:sp>
        <p:nvSpPr>
          <p:cNvPr id="258" name="Text 2"/>
          <p:cNvSpPr txBox="1"/>
          <p:nvPr/>
        </p:nvSpPr>
        <p:spPr>
          <a:xfrm>
            <a:off x="594359" y="959103"/>
            <a:ext cx="10424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1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섹션 5 / 5</a:t>
            </a:r>
          </a:p>
        </p:txBody>
      </p:sp>
      <p:sp>
        <p:nvSpPr>
          <p:cNvPr id="259" name="Text 3"/>
          <p:cNvSpPr txBox="1"/>
          <p:nvPr/>
        </p:nvSpPr>
        <p:spPr>
          <a:xfrm>
            <a:off x="594360" y="1508760"/>
            <a:ext cx="11000232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pc="-50" sz="42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산출물 정리 + 운영 채널 업로드</a:t>
            </a:r>
          </a:p>
        </p:txBody>
      </p:sp>
      <p:sp>
        <p:nvSpPr>
          <p:cNvPr id="260" name="Shape 4"/>
          <p:cNvSpPr/>
          <p:nvPr/>
        </p:nvSpPr>
        <p:spPr>
          <a:xfrm>
            <a:off x="548640" y="2971800"/>
            <a:ext cx="1828801" cy="0"/>
          </a:xfrm>
          <a:prstGeom prst="line">
            <a:avLst/>
          </a:prstGeom>
          <a:ln w="25400">
            <a:solidFill>
              <a:srgbClr val="4A7B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5"/>
          <p:cNvSpPr txBox="1"/>
          <p:nvPr/>
        </p:nvSpPr>
        <p:spPr>
          <a:xfrm>
            <a:off x="594360" y="3200400"/>
            <a:ext cx="11000232" cy="424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inflearn_ccd_challenge/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├── CLAUDE.md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├── 기간별_일평균_대기환경_정보_2024년.csv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├── 기간별_일평균_대기환경_정보_2025년.csv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└── outputs/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  ├── yoy_district_pm25.png</a:t>
            </a: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    └── yoy_monthly_pm25.png</a:t>
            </a:r>
          </a:p>
          <a:p>
            <a:pPr>
              <a:lnSpc>
                <a:spcPct val="155000"/>
              </a:lnSpc>
              <a:defRPr sz="1700"/>
            </a:pPr>
          </a:p>
          <a:p>
            <a:pPr>
              <a:lnSpc>
                <a:spcPct val="155000"/>
              </a:lnSpc>
              <a:defRPr sz="17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→ outputs/ PNG · CLAUDE.md 를 인프런/운영 채널에 업로드</a:t>
            </a:r>
          </a:p>
        </p:txBody>
      </p:sp>
      <p:sp>
        <p:nvSpPr>
          <p:cNvPr id="262" name="Text 6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26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548640" y="384047"/>
            <a:ext cx="914401" cy="54865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1"/>
          <p:cNvSpPr txBox="1"/>
          <p:nvPr/>
        </p:nvSpPr>
        <p:spPr>
          <a:xfrm>
            <a:off x="594359" y="497095"/>
            <a:ext cx="10424161" cy="569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-30" sz="26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🎯 미션 1 — 첫 분석 + CLAUDE.md</a:t>
            </a:r>
          </a:p>
        </p:txBody>
      </p:sp>
      <p:sp>
        <p:nvSpPr>
          <p:cNvPr id="266" name="Text 2"/>
          <p:cNvSpPr txBox="1"/>
          <p:nvPr/>
        </p:nvSpPr>
        <p:spPr>
          <a:xfrm>
            <a:off x="594359" y="1052576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미세먼지 데이터에 질문 3개 + 결과 캡처 + CLAUDE.md → 인프런/운영 채널 업로드</a:t>
            </a:r>
          </a:p>
        </p:txBody>
      </p:sp>
      <p:sp>
        <p:nvSpPr>
          <p:cNvPr id="267" name="Shape 3"/>
          <p:cNvSpPr/>
          <p:nvPr/>
        </p:nvSpPr>
        <p:spPr>
          <a:xfrm>
            <a:off x="548640" y="1554480"/>
            <a:ext cx="5669280" cy="457200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162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Shape 4"/>
          <p:cNvSpPr/>
          <p:nvPr/>
        </p:nvSpPr>
        <p:spPr>
          <a:xfrm>
            <a:off x="548640" y="1554480"/>
            <a:ext cx="5669280" cy="64009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5"/>
          <p:cNvSpPr txBox="1"/>
          <p:nvPr/>
        </p:nvSpPr>
        <p:spPr>
          <a:xfrm>
            <a:off x="822960" y="1695449"/>
            <a:ext cx="512064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필수 제출</a:t>
            </a:r>
          </a:p>
        </p:txBody>
      </p:sp>
      <p:sp>
        <p:nvSpPr>
          <p:cNvPr id="270" name="Text 6"/>
          <p:cNvSpPr txBox="1"/>
          <p:nvPr/>
        </p:nvSpPr>
        <p:spPr>
          <a:xfrm>
            <a:off x="822960" y="2148839"/>
            <a:ext cx="5120640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✅ 질문 3개 + 결과 캡처 (PNG)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✅ CLAUDE.md (분석 규칙 5개 이상)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✅ 운영 채널 업로드 (PNG · CLAUDE.md)</a:t>
            </a:r>
          </a:p>
        </p:txBody>
      </p:sp>
      <p:sp>
        <p:nvSpPr>
          <p:cNvPr id="271" name="Shape 7"/>
          <p:cNvSpPr/>
          <p:nvPr/>
        </p:nvSpPr>
        <p:spPr>
          <a:xfrm>
            <a:off x="6400800" y="1554480"/>
            <a:ext cx="5212080" cy="4572001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Shape 8"/>
          <p:cNvSpPr/>
          <p:nvPr/>
        </p:nvSpPr>
        <p:spPr>
          <a:xfrm>
            <a:off x="6400800" y="1554480"/>
            <a:ext cx="5212080" cy="64009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9"/>
          <p:cNvSpPr txBox="1"/>
          <p:nvPr/>
        </p:nvSpPr>
        <p:spPr>
          <a:xfrm>
            <a:off x="6675119" y="1695449"/>
            <a:ext cx="46634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1A1F3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선택 (보너스)</a:t>
            </a:r>
          </a:p>
        </p:txBody>
      </p:sp>
      <p:sp>
        <p:nvSpPr>
          <p:cNvPr id="274" name="Text 10"/>
          <p:cNvSpPr txBox="1"/>
          <p:nvPr/>
        </p:nvSpPr>
        <p:spPr>
          <a:xfrm>
            <a:off x="6675119" y="2148839"/>
            <a:ext cx="4663441" cy="88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⭐ "평소 같으면 얼마나 걸렸을까?" 한 줄 소감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300">
                <a:solidFill>
                  <a:srgbClr val="4A5568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⭐ 본인 회사 데이터로 시도해본 결과</a:t>
            </a:r>
          </a:p>
        </p:txBody>
      </p:sp>
      <p:sp>
        <p:nvSpPr>
          <p:cNvPr id="275" name="Text 11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27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Shape 1"/>
          <p:cNvSpPr/>
          <p:nvPr/>
        </p:nvSpPr>
        <p:spPr>
          <a:xfrm>
            <a:off x="0" y="-1"/>
            <a:ext cx="12192000" cy="548642"/>
          </a:xfrm>
          <a:prstGeom prst="rect">
            <a:avLst/>
          </a:prstGeom>
          <a:solidFill>
            <a:srgbClr val="4A7B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2"/>
          <p:cNvSpPr txBox="1"/>
          <p:nvPr/>
        </p:nvSpPr>
        <p:spPr>
          <a:xfrm>
            <a:off x="777239" y="1701800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50" sz="1400">
                <a:solidFill>
                  <a:srgbClr val="4A7BF7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다음 회차 사전 안내</a:t>
            </a:r>
          </a:p>
        </p:txBody>
      </p:sp>
      <p:sp>
        <p:nvSpPr>
          <p:cNvPr id="280" name="Text 3"/>
          <p:cNvSpPr txBox="1"/>
          <p:nvPr/>
        </p:nvSpPr>
        <p:spPr>
          <a:xfrm>
            <a:off x="777239" y="2485390"/>
            <a:ext cx="10424161" cy="7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pc="-50" sz="3800">
                <a:solidFill>
                  <a:srgbClr val="FFFFFF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Day 2 — EDA + 결합 데이터</a:t>
            </a:r>
          </a:p>
        </p:txBody>
      </p:sp>
      <p:sp>
        <p:nvSpPr>
          <p:cNvPr id="281" name="Text 4"/>
          <p:cNvSpPr txBox="1"/>
          <p:nvPr/>
        </p:nvSpPr>
        <p:spPr>
          <a:xfrm>
            <a:off x="777239" y="4170044"/>
            <a:ext cx="10424161" cy="1718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70000"/>
              </a:lnSpc>
              <a:defRPr sz="1500">
                <a:solidFill>
                  <a:srgbClr val="A0AEC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분석 질문을 잔뜩 던지고, 답 가능한 것부터 풀기</a:t>
            </a:r>
          </a:p>
          <a:p>
            <a:pPr>
              <a:lnSpc>
                <a:spcPct val="170000"/>
              </a:lnSpc>
              <a:defRPr sz="1500">
                <a:solidFill>
                  <a:srgbClr val="A0AEC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단독 분석으로 부족하면 결합 (따릉이·지하철·날씨·언급량·쇼핑)</a:t>
            </a:r>
          </a:p>
          <a:p>
            <a:pPr>
              <a:lnSpc>
                <a:spcPct val="170000"/>
              </a:lnSpc>
              <a:defRPr sz="1500">
                <a:solidFill>
                  <a:srgbClr val="A0AEC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Colab에서 코드 직접 만지기</a:t>
            </a:r>
          </a:p>
          <a:p>
            <a:pPr>
              <a:lnSpc>
                <a:spcPct val="170000"/>
              </a:lnSpc>
              <a:defRPr sz="1500">
                <a:solidFill>
                  <a:srgbClr val="A0AEC0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pPr>
            <a:r>
              <a:t>· 오늘 만든 CLAUDE.md는 그대로 두고, 새 규칙은 자연어로 누적합니다</a:t>
            </a:r>
          </a:p>
        </p:txBody>
      </p:sp>
      <p:sp>
        <p:nvSpPr>
          <p:cNvPr id="282" name="Text 5"/>
          <p:cNvSpPr txBox="1"/>
          <p:nvPr/>
        </p:nvSpPr>
        <p:spPr>
          <a:xfrm>
            <a:off x="11018519" y="6446265"/>
            <a:ext cx="9144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718096"/>
                </a:solidFill>
                <a:latin typeface="Noto Sans KR Thin Regular"/>
                <a:ea typeface="Noto Sans KR Thin Regular"/>
                <a:cs typeface="Noto Sans KR Thin Regular"/>
                <a:sym typeface="Noto Sans KR Thin Regular"/>
              </a:defRPr>
            </a:lvl1pPr>
          </a:lstStyle>
          <a:p>
            <a:pPr/>
            <a:r>
              <a:t>28 / 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